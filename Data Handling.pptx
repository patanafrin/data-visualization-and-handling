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5" r:id="rId8"/>
    <p:sldId id="262" r:id="rId9"/>
    <p:sldId id="273" r:id="rId10"/>
    <p:sldId id="268" r:id="rId11"/>
    <p:sldId id="263" r:id="rId12"/>
    <p:sldId id="265" r:id="rId13"/>
    <p:sldId id="264" r:id="rId14"/>
    <p:sldId id="266" r:id="rId15"/>
    <p:sldId id="274" r:id="rId16"/>
    <p:sldId id="267" r:id="rId17"/>
    <p:sldId id="269" r:id="rId18"/>
    <p:sldId id="270" r:id="rId19"/>
    <p:sldId id="271"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E2424A-88EC-42F6-A3B7-6C39A13393E8}" v="5" dt="2026-02-03T04:21:57.8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C75D-FF14-36F3-E29B-ED8CDE71F7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B910B74-5B15-2A31-C576-6AE4448DFB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1DA79B-7134-7009-AA86-86D40587CE35}"/>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7554E5FB-B2B2-B4CA-8418-FA0F4BF326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ADAF75-A0EB-E4A9-1D90-17BA36DE3529}"/>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4245674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9019E-28C3-9EA5-144F-0A98B08298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4D9C19-EC35-96B8-EF56-2C90F1F6D4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57EA19-0F47-1523-F4F0-80A2257D2E27}"/>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1FC487E8-4EE3-9257-259A-203A95044A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1F1796-5663-1401-3C06-4CDECD7F661B}"/>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2221194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141A-297B-0EF4-F500-4476095BF4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C26DAB-7BE6-E941-FAB8-95B1CCBBCC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EA09A3-47A9-0C09-6CBB-FA9DF436A420}"/>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DEE62593-3DD2-6D32-2294-A44B5F672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68ADC1-5A17-661D-23A7-D84921747B55}"/>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030124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892A-9BD4-180C-F9E3-32A2E8908B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B848B9-021D-0C6E-F563-4C3F7385F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81DC6B-9457-AF2D-3CE4-FBD0D1F783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E87900-BB21-5936-BD2E-9762EC0E82DC}"/>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6" name="Footer Placeholder 5">
            <a:extLst>
              <a:ext uri="{FF2B5EF4-FFF2-40B4-BE49-F238E27FC236}">
                <a16:creationId xmlns:a16="http://schemas.microsoft.com/office/drawing/2014/main" id="{DAF10C6C-7841-1FF0-143D-0A9BA32B74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79B435-6A8C-1A11-21C6-7569E7176AB6}"/>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605180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11C74-31DA-F762-2636-577A940E84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F847DE-3E86-39ED-97FA-CF93F90F6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DD884C-3CCC-E0B0-CC64-E2D3B3CA14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8E24D55-41D0-035B-E684-2C53564C74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7CDE29-B2F6-3BB9-5D5F-9689E98E4D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4009A5-BE85-F3F1-8635-20A2A135CD10}"/>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8" name="Footer Placeholder 7">
            <a:extLst>
              <a:ext uri="{FF2B5EF4-FFF2-40B4-BE49-F238E27FC236}">
                <a16:creationId xmlns:a16="http://schemas.microsoft.com/office/drawing/2014/main" id="{25B07FC4-A602-FB02-56AB-EDDCA982A4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274F04-7A05-AC39-92C7-7F0478AD0D1F}"/>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664815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4DF0D-5099-FA54-8C1D-2C2588BFE91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5925FC-9EE3-FC08-ACE8-1BC18495689B}"/>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4" name="Footer Placeholder 3">
            <a:extLst>
              <a:ext uri="{FF2B5EF4-FFF2-40B4-BE49-F238E27FC236}">
                <a16:creationId xmlns:a16="http://schemas.microsoft.com/office/drawing/2014/main" id="{60B95EDA-2C97-1490-05A3-27B2A1342E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F9BA1A-3A12-050A-5B21-E9C463C17B67}"/>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2054993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36C71D-64FF-59F2-76F2-32D5859776A7}"/>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3" name="Footer Placeholder 2">
            <a:extLst>
              <a:ext uri="{FF2B5EF4-FFF2-40B4-BE49-F238E27FC236}">
                <a16:creationId xmlns:a16="http://schemas.microsoft.com/office/drawing/2014/main" id="{E36CF2D4-C8C5-5C9B-5A77-E1ABA2B995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4BE680-E607-BF9F-4DE4-F76275DAAF6E}"/>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68487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18CC-6BF2-A071-9611-B7A35C0229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B45351-BB2E-ACA0-A983-B5E28F681C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D9840F-C2B4-3594-A80D-ED770FA19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E01BCC-5D59-5FFF-DD40-A1E9A9038044}"/>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6" name="Footer Placeholder 5">
            <a:extLst>
              <a:ext uri="{FF2B5EF4-FFF2-40B4-BE49-F238E27FC236}">
                <a16:creationId xmlns:a16="http://schemas.microsoft.com/office/drawing/2014/main" id="{C5A47D39-332A-38DF-E3D0-B17EAD86B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AE2D5A-25BE-6F3B-CF83-465A4E151561}"/>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9013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2BF94-2622-86E3-9EF3-7A748657EC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8BF1FC-F994-4183-E2B2-C249572641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FF820B-5407-A583-8AFE-9309464A4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9926A1-1375-ECC6-6547-47178273123D}"/>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6" name="Footer Placeholder 5">
            <a:extLst>
              <a:ext uri="{FF2B5EF4-FFF2-40B4-BE49-F238E27FC236}">
                <a16:creationId xmlns:a16="http://schemas.microsoft.com/office/drawing/2014/main" id="{E124C0E4-FCFD-D056-3046-0E6B287EE6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3EA4A1-9A5D-EE84-5A1F-CD5B15286CB6}"/>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3346538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FC37-1903-59AB-04B2-92835E07F7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8F9E10-5D73-4498-48DC-B6A1E4A759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93BA5D-4C16-6D7F-655A-69D75F84D7EB}"/>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C1B9320D-163D-10E4-D22F-F818228E2D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926B66-BA66-50D4-BF30-E0F67DDD725B}"/>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1382254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83110C-34C5-3675-67B4-1CE6759D79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1205F-3499-6A43-C7F8-3C49B4474E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B5BB36-CFD6-503C-F88B-FBF3F2136F99}"/>
              </a:ext>
            </a:extLst>
          </p:cNvPr>
          <p:cNvSpPr>
            <a:spLocks noGrp="1"/>
          </p:cNvSpPr>
          <p:nvPr>
            <p:ph type="dt" sz="half" idx="10"/>
          </p:nvPr>
        </p:nvSpPr>
        <p:spPr/>
        <p:txBody>
          <a:body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4FA8D200-C509-D397-2C8A-B745150D62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DD0671-B097-7E54-9C3E-AD200B9F6787}"/>
              </a:ext>
            </a:extLst>
          </p:cNvPr>
          <p:cNvSpPr>
            <a:spLocks noGrp="1"/>
          </p:cNvSpPr>
          <p:nvPr>
            <p:ph type="sldNum" sz="quarter" idx="12"/>
          </p:nvPr>
        </p:nvSpPr>
        <p:spPr/>
        <p:txBody>
          <a:bodyPr/>
          <a:lstStyle/>
          <a:p>
            <a:fld id="{D49CF252-7B84-4C13-9169-D0E4EF1AA3F0}" type="slidenum">
              <a:rPr lang="en-IN" smtClean="0"/>
              <a:t>‹#›</a:t>
            </a:fld>
            <a:endParaRPr lang="en-IN"/>
          </a:p>
        </p:txBody>
      </p:sp>
    </p:spTree>
    <p:extLst>
      <p:ext uri="{BB962C8B-B14F-4D97-AF65-F5344CB8AC3E}">
        <p14:creationId xmlns:p14="http://schemas.microsoft.com/office/powerpoint/2010/main" val="4177919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880C86-C93F-02E2-EF2E-C761EB254A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7E4003-9022-CA45-7288-AB1319908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980032-5196-623A-7544-6572362490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910CDA-62E3-474E-A4EE-3E5F65365D31}" type="datetimeFigureOut">
              <a:rPr lang="en-IN" smtClean="0"/>
              <a:t>03-02-2026</a:t>
            </a:fld>
            <a:endParaRPr lang="en-IN"/>
          </a:p>
        </p:txBody>
      </p:sp>
      <p:sp>
        <p:nvSpPr>
          <p:cNvPr id="5" name="Footer Placeholder 4">
            <a:extLst>
              <a:ext uri="{FF2B5EF4-FFF2-40B4-BE49-F238E27FC236}">
                <a16:creationId xmlns:a16="http://schemas.microsoft.com/office/drawing/2014/main" id="{C8AD7116-C921-9682-E5C9-5B04755991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8FCC691-95D4-F8CE-5EA1-60AA627E4C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9CF252-7B84-4C13-9169-D0E4EF1AA3F0}" type="slidenum">
              <a:rPr lang="en-IN" smtClean="0"/>
              <a:t>‹#›</a:t>
            </a:fld>
            <a:endParaRPr lang="en-IN"/>
          </a:p>
        </p:txBody>
      </p:sp>
    </p:spTree>
    <p:extLst>
      <p:ext uri="{BB962C8B-B14F-4D97-AF65-F5344CB8AC3E}">
        <p14:creationId xmlns:p14="http://schemas.microsoft.com/office/powerpoint/2010/main" val="2669344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7368-34CB-9574-241C-9F0A07686EDC}"/>
              </a:ext>
            </a:extLst>
          </p:cNvPr>
          <p:cNvSpPr>
            <a:spLocks noGrp="1"/>
          </p:cNvSpPr>
          <p:nvPr>
            <p:ph type="ctrTitle"/>
          </p:nvPr>
        </p:nvSpPr>
        <p:spPr>
          <a:xfrm>
            <a:off x="1762125" y="1924560"/>
            <a:ext cx="9144000" cy="2133599"/>
          </a:xfrm>
        </p:spPr>
        <p:txBody>
          <a:bodyPr>
            <a:normAutofit fontScale="90000"/>
          </a:bodyPr>
          <a:lstStyle/>
          <a:p>
            <a:r>
              <a:rPr lang="en-US" b="1" dirty="0">
                <a:solidFill>
                  <a:schemeClr val="accent6">
                    <a:lumMod val="75000"/>
                  </a:schemeClr>
                </a:solidFill>
                <a:latin typeface="Times New Roman" panose="02020603050405020304" pitchFamily="18" charset="0"/>
                <a:cs typeface="Times New Roman" panose="02020603050405020304" pitchFamily="18" charset="0"/>
              </a:rPr>
              <a:t>Eco sense : Smart air quality monitoring dashboard</a:t>
            </a:r>
            <a:endParaRPr lang="en-IN" b="1"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CA50464-1662-16E3-B829-43F78A6272BF}"/>
              </a:ext>
            </a:extLst>
          </p:cNvPr>
          <p:cNvSpPr>
            <a:spLocks noGrp="1"/>
          </p:cNvSpPr>
          <p:nvPr>
            <p:ph type="subTitle" idx="1"/>
          </p:nvPr>
        </p:nvSpPr>
        <p:spPr>
          <a:xfrm>
            <a:off x="785191" y="4371768"/>
            <a:ext cx="3170583" cy="1655762"/>
          </a:xfrm>
        </p:spPr>
        <p:txBody>
          <a:bodyPr>
            <a:normAutofit/>
          </a:bodyPr>
          <a:lstStyle/>
          <a:p>
            <a:pPr algn="just"/>
            <a:r>
              <a:rPr lang="en-IN" sz="1800" dirty="0">
                <a:latin typeface="Times New Roman" panose="02020603050405020304" pitchFamily="18" charset="0"/>
                <a:cs typeface="Times New Roman" panose="02020603050405020304" pitchFamily="18" charset="0"/>
              </a:rPr>
              <a:t>Presented by: </a:t>
            </a:r>
          </a:p>
          <a:p>
            <a:pPr algn="just"/>
            <a:r>
              <a:rPr lang="en-IN" sz="1800" dirty="0">
                <a:latin typeface="Times New Roman" panose="02020603050405020304" pitchFamily="18" charset="0"/>
                <a:cs typeface="Times New Roman" panose="02020603050405020304" pitchFamily="18" charset="0"/>
              </a:rPr>
              <a:t>A. Pavithra (192424347) </a:t>
            </a:r>
          </a:p>
          <a:p>
            <a:pPr algn="just"/>
            <a:r>
              <a:rPr lang="en-IN" sz="1800" dirty="0">
                <a:latin typeface="Times New Roman" panose="02020603050405020304" pitchFamily="18" charset="0"/>
                <a:cs typeface="Times New Roman" panose="02020603050405020304" pitchFamily="18" charset="0"/>
              </a:rPr>
              <a:t>C. H. Harshitha (192473031)</a:t>
            </a:r>
          </a:p>
          <a:p>
            <a:pPr algn="just"/>
            <a:r>
              <a:rPr lang="en-IN" sz="1800" dirty="0">
                <a:latin typeface="Times New Roman" panose="02020603050405020304" pitchFamily="18" charset="0"/>
                <a:cs typeface="Times New Roman" panose="02020603050405020304" pitchFamily="18" charset="0"/>
              </a:rPr>
              <a:t> P. </a:t>
            </a:r>
            <a:r>
              <a:rPr lang="en-IN" sz="1800" dirty="0" err="1">
                <a:latin typeface="Times New Roman" panose="02020603050405020304" pitchFamily="18" charset="0"/>
                <a:cs typeface="Times New Roman" panose="02020603050405020304" pitchFamily="18" charset="0"/>
              </a:rPr>
              <a:t>Aufrin</a:t>
            </a:r>
            <a:r>
              <a:rPr lang="en-IN" sz="1800" dirty="0">
                <a:latin typeface="Times New Roman" panose="02020603050405020304" pitchFamily="18" charset="0"/>
                <a:cs typeface="Times New Roman" panose="02020603050405020304" pitchFamily="18" charset="0"/>
              </a:rPr>
              <a:t> (192473029)                                                                                              </a:t>
            </a:r>
          </a:p>
        </p:txBody>
      </p:sp>
      <p:pic>
        <p:nvPicPr>
          <p:cNvPr id="4" name="Picture 2">
            <a:extLst>
              <a:ext uri="{FF2B5EF4-FFF2-40B4-BE49-F238E27FC236}">
                <a16:creationId xmlns:a16="http://schemas.microsoft.com/office/drawing/2014/main" id="{4F2C5468-5A99-3C54-3EB2-8DF4D7CE6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138224"/>
            <a:ext cx="8815302" cy="8920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BF5B70-4A20-299D-BE4A-AFAA27163D1B}"/>
              </a:ext>
            </a:extLst>
          </p:cNvPr>
          <p:cNvSpPr txBox="1"/>
          <p:nvPr/>
        </p:nvSpPr>
        <p:spPr>
          <a:xfrm>
            <a:off x="2173356" y="1462895"/>
            <a:ext cx="8530259"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DSA0613-Data Handling and Visualization for Data Analytics</a:t>
            </a:r>
          </a:p>
        </p:txBody>
      </p:sp>
      <p:sp>
        <p:nvSpPr>
          <p:cNvPr id="7" name="TextBox 6">
            <a:extLst>
              <a:ext uri="{FF2B5EF4-FFF2-40B4-BE49-F238E27FC236}">
                <a16:creationId xmlns:a16="http://schemas.microsoft.com/office/drawing/2014/main" id="{FBC6BDAB-5285-BBBA-5E39-B443C77005F5}"/>
              </a:ext>
            </a:extLst>
          </p:cNvPr>
          <p:cNvSpPr txBox="1"/>
          <p:nvPr/>
        </p:nvSpPr>
        <p:spPr>
          <a:xfrm>
            <a:off x="8357981" y="4519824"/>
            <a:ext cx="2548144" cy="1373709"/>
          </a:xfrm>
          <a:prstGeom prst="rect">
            <a:avLst/>
          </a:prstGeom>
          <a:noFill/>
        </p:spPr>
        <p:txBody>
          <a:bodyPr wrap="square">
            <a:spAutoFit/>
          </a:bodyPr>
          <a:lstStyle/>
          <a:p>
            <a:pPr algn="just">
              <a:lnSpc>
                <a:spcPct val="90000"/>
              </a:lnSpc>
              <a:spcBef>
                <a:spcPts val="1000"/>
              </a:spcBef>
            </a:pPr>
            <a:r>
              <a:rPr lang="en-IN" dirty="0">
                <a:latin typeface="Times New Roman" panose="02020603050405020304" pitchFamily="18" charset="0"/>
                <a:cs typeface="Times New Roman" panose="02020603050405020304" pitchFamily="18" charset="0"/>
              </a:rPr>
              <a:t>Guided by:</a:t>
            </a:r>
          </a:p>
          <a:p>
            <a:pPr algn="just">
              <a:lnSpc>
                <a:spcPct val="90000"/>
              </a:lnSpc>
              <a:spcBef>
                <a:spcPts val="1000"/>
              </a:spcBef>
            </a:pPr>
            <a:r>
              <a:rPr lang="en-IN" dirty="0">
                <a:latin typeface="Times New Roman" panose="02020603050405020304" pitchFamily="18" charset="0"/>
                <a:cs typeface="Times New Roman" panose="02020603050405020304" pitchFamily="18" charset="0"/>
              </a:rPr>
              <a:t>Dr. Kumaragurubaran T</a:t>
            </a:r>
          </a:p>
          <a:p>
            <a:pPr algn="just">
              <a:lnSpc>
                <a:spcPct val="90000"/>
              </a:lnSpc>
              <a:spcBef>
                <a:spcPts val="1000"/>
              </a:spcBef>
            </a:pPr>
            <a:r>
              <a:rPr lang="en-IN" dirty="0">
                <a:latin typeface="Times New Roman" panose="02020603050405020304" pitchFamily="18" charset="0"/>
                <a:cs typeface="Times New Roman" panose="02020603050405020304" pitchFamily="18" charset="0"/>
              </a:rPr>
              <a:t>Dr. </a:t>
            </a:r>
            <a:r>
              <a:rPr lang="en-IN" dirty="0" err="1">
                <a:latin typeface="Times New Roman" panose="02020603050405020304" pitchFamily="18" charset="0"/>
                <a:cs typeface="Times New Roman" panose="02020603050405020304" pitchFamily="18" charset="0"/>
              </a:rPr>
              <a:t>Senthilvadivu</a:t>
            </a:r>
            <a:r>
              <a:rPr lang="en-IN" dirty="0">
                <a:latin typeface="Times New Roman" panose="02020603050405020304" pitchFamily="18" charset="0"/>
                <a:cs typeface="Times New Roman" panose="02020603050405020304" pitchFamily="18" charset="0"/>
              </a:rPr>
              <a:t> S</a:t>
            </a:r>
          </a:p>
          <a:p>
            <a:endParaRPr lang="en-IN" dirty="0"/>
          </a:p>
        </p:txBody>
      </p:sp>
    </p:spTree>
    <p:extLst>
      <p:ext uri="{BB962C8B-B14F-4D97-AF65-F5344CB8AC3E}">
        <p14:creationId xmlns:p14="http://schemas.microsoft.com/office/powerpoint/2010/main" val="998433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FBF9-045B-7C3C-8D01-5B1F0C64AEEF}"/>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69FFC692-084A-4D12-C97B-AF96BF8392FE}"/>
              </a:ext>
            </a:extLst>
          </p:cNvPr>
          <p:cNvSpPr>
            <a:spLocks noGrp="1"/>
          </p:cNvSpPr>
          <p:nvPr>
            <p:ph idx="1"/>
          </p:nvPr>
        </p:nvSpPr>
        <p:spPr>
          <a:xfrm>
            <a:off x="1371600" y="1825625"/>
            <a:ext cx="9982200" cy="4351338"/>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Eco Sence is a smart air quality monitoring dashboard designed to collect and visualize real-time environmental pollution data. It integrates sensor inputs and data analytics to provide a clear overview of air quality and pollutant distribution. The system analyzes trends over time to identify patterns and relationships between different pollutants. These insights help understand seasonal variations and factors affecting environmental health. A geospatial module enables location-based monitoring with smart visualizations and predictive alerts. Overall, Eco Sence supports informed decision-making, environmental awareness, and healthier urban living.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B4CD-3B29-F541-C057-1384005F8319}"/>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C741D3D4-3122-3421-E9BB-F4136CC4722C}"/>
              </a:ext>
            </a:extLst>
          </p:cNvPr>
          <p:cNvSpPr>
            <a:spLocks noGrp="1" noChangeArrowheads="1"/>
          </p:cNvSpPr>
          <p:nvPr>
            <p:ph idx="1"/>
          </p:nvPr>
        </p:nvSpPr>
        <p:spPr bwMode="auto">
          <a:xfrm>
            <a:off x="1388165" y="1837962"/>
            <a:ext cx="9793357"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 pollution is a growing environmental and health issue caused by urbanization and industrial activities.</a:t>
            </a: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air quality monitoring is necessary to understand pollutant levels and their effects.</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 Sence is a smart dashboard designed to track and visualize real-time air quality data.</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combines sensors, data analytics, and visualization for effective monitoring.</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promotes environmental awareness and supports better decisions for healthier living.</a:t>
            </a:r>
          </a:p>
          <a:p>
            <a:pPr marL="0" indent="0" algn="just" eaLnBrk="0" fontAlgn="base" hangingPunct="0">
              <a:lnSpc>
                <a:spcPct val="150000"/>
              </a:lnSpc>
              <a:spcBef>
                <a:spcPct val="0"/>
              </a:spcBef>
              <a:spcAft>
                <a:spcPct val="0"/>
              </a:spcAft>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340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473B6-B81E-9D99-A1E8-B676F963FA35}"/>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1B86348-960F-F784-7D9B-E201D1922AF3}"/>
              </a:ext>
            </a:extLst>
          </p:cNvPr>
          <p:cNvSpPr>
            <a:spLocks noGrp="1"/>
          </p:cNvSpPr>
          <p:nvPr>
            <p:ph idx="1"/>
          </p:nvPr>
        </p:nvSpPr>
        <p:spPr>
          <a:xfrm>
            <a:off x="768626" y="1805746"/>
            <a:ext cx="10515600"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Increasing air pollution levels are difficult to monitor consistently using traditional manual methods.</a:t>
            </a:r>
          </a:p>
          <a:p>
            <a:pPr algn="just">
              <a:lnSpc>
                <a:spcPct val="150000"/>
              </a:lnSpc>
            </a:pPr>
            <a:r>
              <a:rPr lang="en-US" sz="2000" dirty="0">
                <a:latin typeface="Times New Roman" panose="02020603050405020304" pitchFamily="18" charset="0"/>
                <a:cs typeface="Times New Roman" panose="02020603050405020304" pitchFamily="18" charset="0"/>
              </a:rPr>
              <a:t>Lack of real-time air quality data makes it hard to understand pollutant distribution and severity.</a:t>
            </a:r>
          </a:p>
          <a:p>
            <a:pPr algn="just">
              <a:lnSpc>
                <a:spcPct val="150000"/>
              </a:lnSpc>
            </a:pPr>
            <a:r>
              <a:rPr lang="en-US" sz="2000" dirty="0">
                <a:latin typeface="Times New Roman" panose="02020603050405020304" pitchFamily="18" charset="0"/>
                <a:cs typeface="Times New Roman" panose="02020603050405020304" pitchFamily="18" charset="0"/>
              </a:rPr>
              <a:t>Existing systems often fail to analyze trends and relationships between pollutants over time.</a:t>
            </a:r>
          </a:p>
          <a:p>
            <a:pPr algn="just">
              <a:lnSpc>
                <a:spcPct val="150000"/>
              </a:lnSpc>
            </a:pPr>
            <a:r>
              <a:rPr lang="en-US" sz="2000" dirty="0">
                <a:latin typeface="Times New Roman" panose="02020603050405020304" pitchFamily="18" charset="0"/>
                <a:cs typeface="Times New Roman" panose="02020603050405020304" pitchFamily="18" charset="0"/>
              </a:rPr>
              <a:t>There is limited access to geospatial visualization for location-based air quality monitoring.</a:t>
            </a:r>
          </a:p>
          <a:p>
            <a:pPr algn="just">
              <a:lnSpc>
                <a:spcPct val="150000"/>
              </a:lnSpc>
            </a:pPr>
            <a:r>
              <a:rPr lang="en-US" sz="2000" dirty="0">
                <a:latin typeface="Times New Roman" panose="02020603050405020304" pitchFamily="18" charset="0"/>
                <a:cs typeface="Times New Roman" panose="02020603050405020304" pitchFamily="18" charset="0"/>
              </a:rPr>
              <a:t>Absence of smart insights and predictive alerts reduces early warning capabilities.</a:t>
            </a:r>
          </a:p>
          <a:p>
            <a:pPr algn="just">
              <a:lnSpc>
                <a:spcPct val="150000"/>
              </a:lnSpc>
            </a:pPr>
            <a:r>
              <a:rPr lang="en-US" sz="2000" dirty="0">
                <a:latin typeface="Times New Roman" panose="02020603050405020304" pitchFamily="18" charset="0"/>
                <a:cs typeface="Times New Roman" panose="02020603050405020304" pitchFamily="18" charset="0"/>
              </a:rPr>
              <a:t>A need exists for an integrated, user-friendly dashboard that provides accurate monitoring and actionable environmental insights.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809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4FDB-D89D-115A-4DFD-B02D35AF671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2FB941C1-C3EC-8684-702C-5CDC43D1A310}"/>
              </a:ext>
            </a:extLst>
          </p:cNvPr>
          <p:cNvSpPr txBox="1"/>
          <p:nvPr/>
        </p:nvSpPr>
        <p:spPr>
          <a:xfrm>
            <a:off x="1570382" y="1794674"/>
            <a:ext cx="8202267" cy="326865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 smart dashboard for real-time air quality monitoring.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analyze and visualize pollutant distribution across monitored areas.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identify trends and relationships between different air pollutants.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implement geospatial mapping for location-based air quality insights.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generate smart alerts and predictive environmental insights.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promote environmental awareness and support data-driven decision-making.</a:t>
            </a:r>
          </a:p>
        </p:txBody>
      </p:sp>
    </p:spTree>
    <p:extLst>
      <p:ext uri="{BB962C8B-B14F-4D97-AF65-F5344CB8AC3E}">
        <p14:creationId xmlns:p14="http://schemas.microsoft.com/office/powerpoint/2010/main" val="1135600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5A565-18A0-748C-B474-49638C76920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Methodology</a:t>
            </a:r>
          </a:p>
        </p:txBody>
      </p:sp>
      <p:sp>
        <p:nvSpPr>
          <p:cNvPr id="5" name="TextBox 4">
            <a:extLst>
              <a:ext uri="{FF2B5EF4-FFF2-40B4-BE49-F238E27FC236}">
                <a16:creationId xmlns:a16="http://schemas.microsoft.com/office/drawing/2014/main" id="{46A2DE4A-0519-168B-8A66-1F9529DF6C2D}"/>
              </a:ext>
            </a:extLst>
          </p:cNvPr>
          <p:cNvSpPr txBox="1"/>
          <p:nvPr/>
        </p:nvSpPr>
        <p:spPr>
          <a:xfrm>
            <a:off x="1548020" y="1989197"/>
            <a:ext cx="8679346" cy="25355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Collect real-time air quality data using sensors and reliable data sources.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Preprocess and clean the collected data for accurate analysis.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pollutant distribution and temporal trends using statistical techniques.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Apply correlation and pattern analysis to study relationships between pollutants.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 data through dashboards and geospatial mapping tools.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smart insights and alerts based on analyzed air quality patterns.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012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DD6E-EBD0-51A1-7C99-103B88590D0E}"/>
              </a:ext>
            </a:extLst>
          </p:cNvPr>
          <p:cNvSpPr>
            <a:spLocks noGrp="1"/>
          </p:cNvSpPr>
          <p:nvPr>
            <p:ph type="title"/>
          </p:nvPr>
        </p:nvSpPr>
        <p:spPr>
          <a:xfrm>
            <a:off x="838199" y="96768"/>
            <a:ext cx="10515600" cy="1325563"/>
          </a:xfrm>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Architecture</a:t>
            </a:r>
          </a:p>
        </p:txBody>
      </p:sp>
      <p:pic>
        <p:nvPicPr>
          <p:cNvPr id="5" name="Content Placeholder 4">
            <a:extLst>
              <a:ext uri="{FF2B5EF4-FFF2-40B4-BE49-F238E27FC236}">
                <a16:creationId xmlns:a16="http://schemas.microsoft.com/office/drawing/2014/main" id="{8CE8F78F-FDF0-B9D2-5B29-1DAD09C26D93}"/>
              </a:ext>
            </a:extLst>
          </p:cNvPr>
          <p:cNvPicPr>
            <a:picLocks noGrp="1" noChangeAspect="1"/>
          </p:cNvPicPr>
          <p:nvPr>
            <p:ph idx="1"/>
          </p:nvPr>
        </p:nvPicPr>
        <p:blipFill>
          <a:blip r:embed="rId2"/>
          <a:stretch>
            <a:fillRect/>
          </a:stretch>
        </p:blipFill>
        <p:spPr>
          <a:xfrm>
            <a:off x="2286001" y="1422331"/>
            <a:ext cx="8010939" cy="5030356"/>
          </a:xfrm>
          <a:prstGeom prst="rect">
            <a:avLst/>
          </a:prstGeom>
        </p:spPr>
      </p:pic>
    </p:spTree>
    <p:extLst>
      <p:ext uri="{BB962C8B-B14F-4D97-AF65-F5344CB8AC3E}">
        <p14:creationId xmlns:p14="http://schemas.microsoft.com/office/powerpoint/2010/main" val="1162292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B87C-3FF7-AE06-95A7-7B8B6410FA2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Module-1: Air Quality Overview &amp; Pollutant Distribution </a:t>
            </a:r>
          </a:p>
        </p:txBody>
      </p:sp>
      <p:sp>
        <p:nvSpPr>
          <p:cNvPr id="3" name="Content Placeholder 2">
            <a:extLst>
              <a:ext uri="{FF2B5EF4-FFF2-40B4-BE49-F238E27FC236}">
                <a16:creationId xmlns:a16="http://schemas.microsoft.com/office/drawing/2014/main" id="{B7A70185-C0CD-FF23-C4D1-854E5A39B706}"/>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Module 1 provides a real-time overview of air quality using AQI data across selected countries and date ranges.</a:t>
            </a:r>
          </a:p>
          <a:p>
            <a:pPr algn="just">
              <a:lnSpc>
                <a:spcPct val="150000"/>
              </a:lnSpc>
            </a:pPr>
            <a:r>
              <a:rPr lang="en-US" sz="2000" dirty="0">
                <a:latin typeface="Times New Roman" panose="02020603050405020304" pitchFamily="18" charset="0"/>
                <a:cs typeface="Times New Roman" panose="02020603050405020304" pitchFamily="18" charset="0"/>
              </a:rPr>
              <a:t>Users can filter data by date and country to monitor pollution levels interactively.</a:t>
            </a:r>
          </a:p>
          <a:p>
            <a:pPr algn="just">
              <a:lnSpc>
                <a:spcPct val="150000"/>
              </a:lnSpc>
            </a:pPr>
            <a:r>
              <a:rPr lang="en-US" sz="2000" dirty="0">
                <a:latin typeface="Times New Roman" panose="02020603050405020304" pitchFamily="18" charset="0"/>
                <a:cs typeface="Times New Roman" panose="02020603050405020304" pitchFamily="18" charset="0"/>
              </a:rPr>
              <a:t>The dashboard highlights smart alerts when AQI exceeds 200, indicating hazardous conditions.</a:t>
            </a:r>
          </a:p>
          <a:p>
            <a:pPr algn="just">
              <a:lnSpc>
                <a:spcPct val="150000"/>
              </a:lnSpc>
            </a:pPr>
            <a:r>
              <a:rPr lang="en-US" sz="2000" dirty="0">
                <a:latin typeface="Times New Roman" panose="02020603050405020304" pitchFamily="18" charset="0"/>
                <a:cs typeface="Times New Roman" panose="02020603050405020304" pitchFamily="18" charset="0"/>
              </a:rPr>
              <a:t>Pollutant severity is categorized (Poor, Severe, etc.) for quick risk identification.</a:t>
            </a:r>
          </a:p>
          <a:p>
            <a:pPr algn="just">
              <a:lnSpc>
                <a:spcPct val="150000"/>
              </a:lnSpc>
            </a:pPr>
            <a:r>
              <a:rPr lang="en-US" sz="2000" dirty="0">
                <a:latin typeface="Times New Roman" panose="02020603050405020304" pitchFamily="18" charset="0"/>
                <a:cs typeface="Times New Roman" panose="02020603050405020304" pitchFamily="18" charset="0"/>
              </a:rPr>
              <a:t>A structured data table displays country-wise AQI values for clear comparison.</a:t>
            </a:r>
          </a:p>
          <a:p>
            <a:pPr algn="just">
              <a:lnSpc>
                <a:spcPct val="150000"/>
              </a:lnSpc>
            </a:pPr>
            <a:r>
              <a:rPr lang="en-US" sz="2000" dirty="0">
                <a:latin typeface="Times New Roman" panose="02020603050405020304" pitchFamily="18" charset="0"/>
                <a:cs typeface="Times New Roman" panose="02020603050405020304" pitchFamily="18" charset="0"/>
              </a:rPr>
              <a:t>This module enables early detection of high pollution zones for faster response and awareness.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534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ADFC-BA97-685B-5321-821180C187D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p>
        </p:txBody>
      </p:sp>
      <p:pic>
        <p:nvPicPr>
          <p:cNvPr id="4" name="Content Placeholder 5">
            <a:extLst>
              <a:ext uri="{FF2B5EF4-FFF2-40B4-BE49-F238E27FC236}">
                <a16:creationId xmlns:a16="http://schemas.microsoft.com/office/drawing/2014/main" id="{124F3389-0CBF-BB58-F25A-4289A8476EFF}"/>
              </a:ext>
            </a:extLst>
          </p:cNvPr>
          <p:cNvPicPr>
            <a:picLocks noGrp="1" noChangeAspect="1"/>
          </p:cNvPicPr>
          <p:nvPr>
            <p:ph idx="1"/>
          </p:nvPr>
        </p:nvPicPr>
        <p:blipFill>
          <a:blip r:embed="rId2"/>
          <a:stretch>
            <a:fillRect/>
          </a:stretch>
        </p:blipFill>
        <p:spPr>
          <a:xfrm>
            <a:off x="1764733" y="1825625"/>
            <a:ext cx="8662534" cy="4351338"/>
          </a:xfrm>
          <a:prstGeom prst="rect">
            <a:avLst/>
          </a:prstGeom>
        </p:spPr>
      </p:pic>
    </p:spTree>
    <p:extLst>
      <p:ext uri="{BB962C8B-B14F-4D97-AF65-F5344CB8AC3E}">
        <p14:creationId xmlns:p14="http://schemas.microsoft.com/office/powerpoint/2010/main" val="137623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3ECF3-4310-EE87-2017-5AD4C4D14F0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p>
        </p:txBody>
      </p:sp>
      <p:pic>
        <p:nvPicPr>
          <p:cNvPr id="10" name="Picture 9">
            <a:extLst>
              <a:ext uri="{FF2B5EF4-FFF2-40B4-BE49-F238E27FC236}">
                <a16:creationId xmlns:a16="http://schemas.microsoft.com/office/drawing/2014/main" id="{7F40A059-3DF3-CD8C-F246-4618D582D500}"/>
              </a:ext>
            </a:extLst>
          </p:cNvPr>
          <p:cNvPicPr>
            <a:picLocks noChangeAspect="1"/>
          </p:cNvPicPr>
          <p:nvPr/>
        </p:nvPicPr>
        <p:blipFill>
          <a:blip r:embed="rId2"/>
          <a:stretch>
            <a:fillRect/>
          </a:stretch>
        </p:blipFill>
        <p:spPr>
          <a:xfrm>
            <a:off x="2963257" y="1577572"/>
            <a:ext cx="6482194" cy="5058569"/>
          </a:xfrm>
          <a:prstGeom prst="rect">
            <a:avLst/>
          </a:prstGeom>
        </p:spPr>
      </p:pic>
    </p:spTree>
    <p:extLst>
      <p:ext uri="{BB962C8B-B14F-4D97-AF65-F5344CB8AC3E}">
        <p14:creationId xmlns:p14="http://schemas.microsoft.com/office/powerpoint/2010/main" val="4059510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562B-8C96-B412-DBEF-CBCB5DF8B5B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Module-2:Trends and Relationships</a:t>
            </a:r>
          </a:p>
        </p:txBody>
      </p:sp>
      <p:sp>
        <p:nvSpPr>
          <p:cNvPr id="3" name="Content Placeholder 2">
            <a:extLst>
              <a:ext uri="{FF2B5EF4-FFF2-40B4-BE49-F238E27FC236}">
                <a16:creationId xmlns:a16="http://schemas.microsoft.com/office/drawing/2014/main" id="{B3CBCDB9-BD4E-2527-F1BC-283F3D8A2E4E}"/>
              </a:ext>
            </a:extLst>
          </p:cNvPr>
          <p:cNvSpPr>
            <a:spLocks noGrp="1"/>
          </p:cNvSpPr>
          <p:nvPr>
            <p:ph idx="1"/>
          </p:nvPr>
        </p:nvSpPr>
        <p:spPr>
          <a:xfrm>
            <a:off x="838200" y="1825625"/>
            <a:ext cx="10084904" cy="435133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Module 2 visualizes AQI trends over time using an interactive time-series chart.</a:t>
            </a:r>
          </a:p>
          <a:p>
            <a:pPr algn="just">
              <a:lnSpc>
                <a:spcPct val="150000"/>
              </a:lnSpc>
            </a:pPr>
            <a:r>
              <a:rPr lang="en-US" sz="2000" dirty="0">
                <a:latin typeface="Times New Roman" panose="02020603050405020304" pitchFamily="18" charset="0"/>
                <a:cs typeface="Times New Roman" panose="02020603050405020304" pitchFamily="18" charset="0"/>
              </a:rPr>
              <a:t>It shows how air quality changes across months and years within the selected date range.</a:t>
            </a:r>
          </a:p>
          <a:p>
            <a:pPr algn="just">
              <a:lnSpc>
                <a:spcPct val="150000"/>
              </a:lnSpc>
            </a:pPr>
            <a:r>
              <a:rPr lang="en-US" sz="2000" dirty="0">
                <a:latin typeface="Times New Roman" panose="02020603050405020304" pitchFamily="18" charset="0"/>
                <a:cs typeface="Times New Roman" panose="02020603050405020304" pitchFamily="18" charset="0"/>
              </a:rPr>
              <a:t>Pollutant severity is color-coded (Good to Severe) for easy trend comparison.</a:t>
            </a:r>
          </a:p>
          <a:p>
            <a:pPr algn="just">
              <a:lnSpc>
                <a:spcPct val="150000"/>
              </a:lnSpc>
            </a:pPr>
            <a:r>
              <a:rPr lang="en-US" sz="2000" dirty="0">
                <a:latin typeface="Times New Roman" panose="02020603050405020304" pitchFamily="18" charset="0"/>
                <a:cs typeface="Times New Roman" panose="02020603050405020304" pitchFamily="18" charset="0"/>
              </a:rPr>
              <a:t>The graph helps identify spikes, seasonal patterns, and long-term pollution behavior.</a:t>
            </a:r>
          </a:p>
          <a:p>
            <a:pPr algn="just">
              <a:lnSpc>
                <a:spcPct val="150000"/>
              </a:lnSpc>
            </a:pPr>
            <a:r>
              <a:rPr lang="en-US" sz="2000" dirty="0">
                <a:latin typeface="Times New Roman" panose="02020603050405020304" pitchFamily="18" charset="0"/>
                <a:cs typeface="Times New Roman" panose="02020603050405020304" pitchFamily="18" charset="0"/>
              </a:rPr>
              <a:t>Users can filter by country to study region-specific trends.</a:t>
            </a:r>
          </a:p>
          <a:p>
            <a:pPr algn="just">
              <a:lnSpc>
                <a:spcPct val="150000"/>
              </a:lnSpc>
            </a:pPr>
            <a:r>
              <a:rPr lang="en-US" sz="2000" dirty="0">
                <a:latin typeface="Times New Roman" panose="02020603050405020304" pitchFamily="18" charset="0"/>
                <a:cs typeface="Times New Roman" panose="02020603050405020304" pitchFamily="18" charset="0"/>
              </a:rPr>
              <a:t>This module supports understanding relationships between pollution levels and time-based patterns.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232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ABA12-AD17-A0A5-C90E-2A77D87CB54A}"/>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endParaRPr lang="en-IN" dirty="0"/>
          </a:p>
        </p:txBody>
      </p:sp>
      <p:pic>
        <p:nvPicPr>
          <p:cNvPr id="5" name="Content Placeholder 4">
            <a:extLst>
              <a:ext uri="{FF2B5EF4-FFF2-40B4-BE49-F238E27FC236}">
                <a16:creationId xmlns:a16="http://schemas.microsoft.com/office/drawing/2014/main" id="{86ECA446-77DB-5A01-5D51-B56C3644DA84}"/>
              </a:ext>
            </a:extLst>
          </p:cNvPr>
          <p:cNvPicPr>
            <a:picLocks noGrp="1" noChangeAspect="1"/>
          </p:cNvPicPr>
          <p:nvPr>
            <p:ph idx="1"/>
          </p:nvPr>
        </p:nvPicPr>
        <p:blipFill>
          <a:blip r:embed="rId2"/>
          <a:stretch>
            <a:fillRect/>
          </a:stretch>
        </p:blipFill>
        <p:spPr>
          <a:xfrm>
            <a:off x="2621473" y="1825625"/>
            <a:ext cx="7476684" cy="4351338"/>
          </a:xfrm>
          <a:prstGeom prst="rect">
            <a:avLst/>
          </a:prstGeom>
        </p:spPr>
      </p:pic>
    </p:spTree>
    <p:extLst>
      <p:ext uri="{BB962C8B-B14F-4D97-AF65-F5344CB8AC3E}">
        <p14:creationId xmlns:p14="http://schemas.microsoft.com/office/powerpoint/2010/main" val="3248981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CD4CA-21A9-9DFC-F05F-163C7D98CF5C}"/>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Module-3: Geospatial and Smart Insights </a:t>
            </a:r>
          </a:p>
        </p:txBody>
      </p:sp>
      <p:sp>
        <p:nvSpPr>
          <p:cNvPr id="3" name="Content Placeholder 2">
            <a:extLst>
              <a:ext uri="{FF2B5EF4-FFF2-40B4-BE49-F238E27FC236}">
                <a16:creationId xmlns:a16="http://schemas.microsoft.com/office/drawing/2014/main" id="{D7F3CC55-A418-6C22-2FD5-8F517EB33D96}"/>
              </a:ext>
            </a:extLst>
          </p:cNvPr>
          <p:cNvSpPr>
            <a:spLocks noGrp="1"/>
          </p:cNvSpPr>
          <p:nvPr>
            <p:ph idx="1"/>
          </p:nvPr>
        </p:nvSpPr>
        <p:spPr/>
        <p:txBody>
          <a:bodyPr>
            <a:normAutofit/>
          </a:bodyPr>
          <a:lstStyle/>
          <a:p>
            <a:pPr>
              <a:lnSpc>
                <a:spcPct val="150000"/>
              </a:lnSpc>
            </a:pPr>
            <a:r>
              <a:rPr lang="en-IN" sz="2000" dirty="0">
                <a:latin typeface="Times New Roman" panose="02020603050405020304" pitchFamily="18" charset="0"/>
                <a:cs typeface="Times New Roman" panose="02020603050405020304" pitchFamily="18" charset="0"/>
              </a:rPr>
              <a:t>Module 3 displays air quality data on an interactive geographic map.</a:t>
            </a:r>
          </a:p>
          <a:p>
            <a:pPr>
              <a:lnSpc>
                <a:spcPct val="150000"/>
              </a:lnSpc>
            </a:pPr>
            <a:r>
              <a:rPr lang="en-IN" sz="2000" dirty="0">
                <a:latin typeface="Times New Roman" panose="02020603050405020304" pitchFamily="18" charset="0"/>
                <a:cs typeface="Times New Roman" panose="02020603050405020304" pitchFamily="18" charset="0"/>
              </a:rPr>
              <a:t>Pollution levels are represented using color-coded markers across regions.</a:t>
            </a:r>
          </a:p>
          <a:p>
            <a:pPr>
              <a:lnSpc>
                <a:spcPct val="150000"/>
              </a:lnSpc>
            </a:pPr>
            <a:r>
              <a:rPr lang="en-IN" sz="2000" dirty="0">
                <a:latin typeface="Times New Roman" panose="02020603050405020304" pitchFamily="18" charset="0"/>
                <a:cs typeface="Times New Roman" panose="02020603050405020304" pitchFamily="18" charset="0"/>
              </a:rPr>
              <a:t>The map helps identify pollution hotspots and safer zones instantly.</a:t>
            </a:r>
          </a:p>
          <a:p>
            <a:pPr>
              <a:lnSpc>
                <a:spcPct val="150000"/>
              </a:lnSpc>
            </a:pPr>
            <a:r>
              <a:rPr lang="en-IN" sz="2000" dirty="0">
                <a:latin typeface="Times New Roman" panose="02020603050405020304" pitchFamily="18" charset="0"/>
                <a:cs typeface="Times New Roman" panose="02020603050405020304" pitchFamily="18" charset="0"/>
              </a:rPr>
              <a:t>Users can zoom and explore location-based AQI variations.</a:t>
            </a:r>
          </a:p>
          <a:p>
            <a:pPr>
              <a:lnSpc>
                <a:spcPct val="150000"/>
              </a:lnSpc>
            </a:pPr>
            <a:r>
              <a:rPr lang="en-IN" sz="2000" dirty="0">
                <a:latin typeface="Times New Roman" panose="02020603050405020304" pitchFamily="18" charset="0"/>
                <a:cs typeface="Times New Roman" panose="02020603050405020304" pitchFamily="18" charset="0"/>
              </a:rPr>
              <a:t>Smart visualization supports quick environmental risk assessment.</a:t>
            </a:r>
          </a:p>
          <a:p>
            <a:pPr>
              <a:lnSpc>
                <a:spcPct val="150000"/>
              </a:lnSpc>
            </a:pPr>
            <a:r>
              <a:rPr lang="en-IN" sz="2000" dirty="0">
                <a:latin typeface="Times New Roman" panose="02020603050405020304" pitchFamily="18" charset="0"/>
                <a:cs typeface="Times New Roman" panose="02020603050405020304" pitchFamily="18" charset="0"/>
              </a:rPr>
              <a:t>This module enables data-driven decisions for urban and regional planning.</a:t>
            </a:r>
          </a:p>
        </p:txBody>
      </p:sp>
    </p:spTree>
    <p:extLst>
      <p:ext uri="{BB962C8B-B14F-4D97-AF65-F5344CB8AC3E}">
        <p14:creationId xmlns:p14="http://schemas.microsoft.com/office/powerpoint/2010/main" val="2950604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6BAC-1893-B5D0-4DA9-2FEA00EA8989}"/>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Output</a:t>
            </a:r>
            <a:endParaRPr lang="en-IN" dirty="0"/>
          </a:p>
        </p:txBody>
      </p:sp>
      <p:pic>
        <p:nvPicPr>
          <p:cNvPr id="5" name="Content Placeholder 4">
            <a:extLst>
              <a:ext uri="{FF2B5EF4-FFF2-40B4-BE49-F238E27FC236}">
                <a16:creationId xmlns:a16="http://schemas.microsoft.com/office/drawing/2014/main" id="{4FF5AD19-54DA-EB81-3556-13C73D12AFD6}"/>
              </a:ext>
            </a:extLst>
          </p:cNvPr>
          <p:cNvPicPr>
            <a:picLocks noGrp="1" noChangeAspect="1"/>
          </p:cNvPicPr>
          <p:nvPr>
            <p:ph idx="1"/>
          </p:nvPr>
        </p:nvPicPr>
        <p:blipFill>
          <a:blip r:embed="rId2"/>
          <a:stretch>
            <a:fillRect/>
          </a:stretch>
        </p:blipFill>
        <p:spPr>
          <a:xfrm>
            <a:off x="3328323" y="1805747"/>
            <a:ext cx="6203303" cy="4351338"/>
          </a:xfrm>
          <a:prstGeom prst="rect">
            <a:avLst/>
          </a:prstGeom>
        </p:spPr>
      </p:pic>
    </p:spTree>
    <p:extLst>
      <p:ext uri="{BB962C8B-B14F-4D97-AF65-F5344CB8AC3E}">
        <p14:creationId xmlns:p14="http://schemas.microsoft.com/office/powerpoint/2010/main" val="366458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31820-C9AF-FC57-1AF9-25B94B73790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Future prediction</a:t>
            </a:r>
          </a:p>
        </p:txBody>
      </p:sp>
      <p:sp>
        <p:nvSpPr>
          <p:cNvPr id="3" name="Content Placeholder 2">
            <a:extLst>
              <a:ext uri="{FF2B5EF4-FFF2-40B4-BE49-F238E27FC236}">
                <a16:creationId xmlns:a16="http://schemas.microsoft.com/office/drawing/2014/main" id="{DF7F67BB-1748-7958-D5B5-F254AE825CAA}"/>
              </a:ext>
            </a:extLst>
          </p:cNvPr>
          <p:cNvSpPr>
            <a:spLocks noGrp="1"/>
          </p:cNvSpPr>
          <p:nvPr>
            <p:ph idx="1"/>
          </p:nvPr>
        </p:nvSpPr>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Using </a:t>
            </a:r>
            <a:r>
              <a:rPr lang="en-US" sz="2000" dirty="0" err="1">
                <a:latin typeface="Times New Roman" panose="02020603050405020304" pitchFamily="18" charset="0"/>
                <a:cs typeface="Times New Roman" panose="02020603050405020304" pitchFamily="18" charset="0"/>
              </a:rPr>
              <a:t>EcoSense</a:t>
            </a:r>
            <a:r>
              <a:rPr lang="en-US" sz="2000" dirty="0">
                <a:latin typeface="Times New Roman" panose="02020603050405020304" pitchFamily="18" charset="0"/>
                <a:cs typeface="Times New Roman" panose="02020603050405020304" pitchFamily="18" charset="0"/>
              </a:rPr>
              <a:t>, the system can predict:</a:t>
            </a:r>
          </a:p>
          <a:p>
            <a:pPr>
              <a:lnSpc>
                <a:spcPct val="150000"/>
              </a:lnSpc>
            </a:pPr>
            <a:r>
              <a:rPr lang="en-US" sz="2000" b="1" dirty="0">
                <a:latin typeface="Times New Roman" panose="02020603050405020304" pitchFamily="18" charset="0"/>
                <a:cs typeface="Times New Roman" panose="02020603050405020304" pitchFamily="18" charset="0"/>
              </a:rPr>
              <a:t>Future AQI Levels:</a:t>
            </a:r>
            <a:r>
              <a:rPr lang="en-US" sz="2000" dirty="0">
                <a:latin typeface="Times New Roman" panose="02020603050405020304" pitchFamily="18" charset="0"/>
                <a:cs typeface="Times New Roman" panose="02020603050405020304" pitchFamily="18" charset="0"/>
              </a:rPr>
              <a:t> Forecast daily or weekly air quality conditions for specific locations.</a:t>
            </a:r>
          </a:p>
          <a:p>
            <a:pPr>
              <a:lnSpc>
                <a:spcPct val="150000"/>
              </a:lnSpc>
            </a:pPr>
            <a:r>
              <a:rPr lang="en-US" sz="2000" b="1" dirty="0">
                <a:latin typeface="Times New Roman" panose="02020603050405020304" pitchFamily="18" charset="0"/>
                <a:cs typeface="Times New Roman" panose="02020603050405020304" pitchFamily="18" charset="0"/>
              </a:rPr>
              <a:t>High-Risk Pollution Periods:</a:t>
            </a:r>
            <a:r>
              <a:rPr lang="en-US" sz="2000" dirty="0">
                <a:latin typeface="Times New Roman" panose="02020603050405020304" pitchFamily="18" charset="0"/>
                <a:cs typeface="Times New Roman" panose="02020603050405020304" pitchFamily="18" charset="0"/>
              </a:rPr>
              <a:t> Identify upcoming days or seasons with severe pollution.</a:t>
            </a:r>
          </a:p>
          <a:p>
            <a:pPr>
              <a:lnSpc>
                <a:spcPct val="150000"/>
              </a:lnSpc>
            </a:pPr>
            <a:r>
              <a:rPr lang="en-US" sz="2000" b="1" dirty="0">
                <a:latin typeface="Times New Roman" panose="02020603050405020304" pitchFamily="18" charset="0"/>
                <a:cs typeface="Times New Roman" panose="02020603050405020304" pitchFamily="18" charset="0"/>
              </a:rPr>
              <a:t>Pollution Hotspots:</a:t>
            </a:r>
            <a:r>
              <a:rPr lang="en-US" sz="2000" dirty="0">
                <a:latin typeface="Times New Roman" panose="02020603050405020304" pitchFamily="18" charset="0"/>
                <a:cs typeface="Times New Roman" panose="02020603050405020304" pitchFamily="18" charset="0"/>
              </a:rPr>
              <a:t> Predict which regions are likely to become high-pollution zones.</a:t>
            </a:r>
          </a:p>
          <a:p>
            <a:pPr>
              <a:lnSpc>
                <a:spcPct val="150000"/>
              </a:lnSpc>
            </a:pPr>
            <a:r>
              <a:rPr lang="en-US" sz="2000" b="1" dirty="0">
                <a:latin typeface="Times New Roman" panose="02020603050405020304" pitchFamily="18" charset="0"/>
                <a:cs typeface="Times New Roman" panose="02020603050405020304" pitchFamily="18" charset="0"/>
              </a:rPr>
              <a:t>Health Risk Alerts:</a:t>
            </a:r>
            <a:r>
              <a:rPr lang="en-US" sz="2000" dirty="0">
                <a:latin typeface="Times New Roman" panose="02020603050405020304" pitchFamily="18" charset="0"/>
                <a:cs typeface="Times New Roman" panose="02020603050405020304" pitchFamily="18" charset="0"/>
              </a:rPr>
              <a:t> Warn sensitive groups before pollution reaches hazardous levels.</a:t>
            </a:r>
          </a:p>
          <a:p>
            <a:pPr>
              <a:lnSpc>
                <a:spcPct val="150000"/>
              </a:lnSpc>
            </a:pPr>
            <a:r>
              <a:rPr lang="en-US" sz="2000" b="1" dirty="0">
                <a:latin typeface="Times New Roman" panose="02020603050405020304" pitchFamily="18" charset="0"/>
                <a:cs typeface="Times New Roman" panose="02020603050405020304" pitchFamily="18" charset="0"/>
              </a:rPr>
              <a:t>Environmental Trends:</a:t>
            </a:r>
            <a:r>
              <a:rPr lang="en-US" sz="2000" dirty="0">
                <a:latin typeface="Times New Roman" panose="02020603050405020304" pitchFamily="18" charset="0"/>
                <a:cs typeface="Times New Roman" panose="02020603050405020304" pitchFamily="18" charset="0"/>
              </a:rPr>
              <a:t> Long-term predictions showing whether air quality is improving or degrading.</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643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8C7F2-5643-908E-A930-1BB5C2329774}"/>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Challenges and Limitations</a:t>
            </a:r>
          </a:p>
        </p:txBody>
      </p:sp>
      <p:sp>
        <p:nvSpPr>
          <p:cNvPr id="4" name="Rectangle 1">
            <a:extLst>
              <a:ext uri="{FF2B5EF4-FFF2-40B4-BE49-F238E27FC236}">
                <a16:creationId xmlns:a16="http://schemas.microsoft.com/office/drawing/2014/main" id="{A9E3C46F-DE55-66BE-D587-B97BD023568F}"/>
              </a:ext>
            </a:extLst>
          </p:cNvPr>
          <p:cNvSpPr>
            <a:spLocks noGrp="1" noChangeArrowheads="1"/>
          </p:cNvSpPr>
          <p:nvPr>
            <p:ph idx="1"/>
          </p:nvPr>
        </p:nvSpPr>
        <p:spPr bwMode="auto">
          <a:xfrm>
            <a:off x="838200" y="1615567"/>
            <a:ext cx="10054213"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Accuracy &amp; Calibration: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Low-cost sensors may give imprecise readings and require frequent calibration to maintain reliability.</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Connectivity &amp; Transmission: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monitoring depends on stable networks, and remote sensors may face data loss or battery issues.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Scalability &amp; Maintenance: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Expanding the system across large areas is costly and requires regular upkeep of multiple devices.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Interpretation &amp; Visualization: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Raw air quality data can be complex, and users may misinterpret it without clear, actionable dashboards.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&amp; External Factors: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Weather, pollution spikes, or improper sensor placement can affect data quality and reliability.</a:t>
            </a:r>
          </a:p>
        </p:txBody>
      </p:sp>
    </p:spTree>
    <p:extLst>
      <p:ext uri="{BB962C8B-B14F-4D97-AF65-F5344CB8AC3E}">
        <p14:creationId xmlns:p14="http://schemas.microsoft.com/office/powerpoint/2010/main" val="1810747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F7BB2-7B5F-5FE2-325B-208904A48FDD}"/>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BD884030-DAEA-56DB-06E3-72037FD0525E}"/>
              </a:ext>
            </a:extLst>
          </p:cNvPr>
          <p:cNvSpPr>
            <a:spLocks noGrp="1" noChangeArrowheads="1"/>
          </p:cNvSpPr>
          <p:nvPr>
            <p:ph idx="1"/>
          </p:nvPr>
        </p:nvSpPr>
        <p:spPr bwMode="auto">
          <a:xfrm>
            <a:off x="838200" y="1851425"/>
            <a:ext cx="10345615"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with Smart Cities: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expanded to monitor air quality city-wide, linked with traffic, industrial, and weather systems for better urban planning.</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Predictive Analytics: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AI/ML to forecast pollution levels and alert citizens in advance.</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Impact Monitoring: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Linking air quality data with health apps to warn sensitive individuals (e.g., asthma patients) in real-time.</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and Automation: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 control of air purifiers, ventilation, or traffic flow based on air quality readings.</a:t>
            </a:r>
          </a:p>
          <a:p>
            <a:pPr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Global &amp; Environmental Research: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can support climate research, pollution studies, and policy-making for environmental protection.</a:t>
            </a:r>
          </a:p>
        </p:txBody>
      </p:sp>
    </p:spTree>
    <p:extLst>
      <p:ext uri="{BB962C8B-B14F-4D97-AF65-F5344CB8AC3E}">
        <p14:creationId xmlns:p14="http://schemas.microsoft.com/office/powerpoint/2010/main" val="2946333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A3E3-2640-7F01-5D43-F95FA6E41ED2}"/>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8CFF7CF1-E27E-B328-AFA3-D3A6118834F2}"/>
              </a:ext>
            </a:extLst>
          </p:cNvPr>
          <p:cNvSpPr>
            <a:spLocks noGrp="1" noChangeArrowheads="1"/>
          </p:cNvSpPr>
          <p:nvPr>
            <p:ph idx="1"/>
          </p:nvPr>
        </p:nvSpPr>
        <p:spPr bwMode="auto">
          <a:xfrm>
            <a:off x="838200" y="1888014"/>
            <a:ext cx="10333383"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Awareness: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instant insights into air quality for individuals and communities.</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Informed Decision-Making: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policymakers and citizens take action to reduce pollution exposure.</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 &amp; Safety Impact: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Supports public health by alerting sensitive groups to hazardous air conditions.</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Future-ready Platform: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integrate AI, IoT, and predictive analytics for smarter environmental management.</a:t>
            </a:r>
          </a:p>
          <a:p>
            <a:pPr algn="just"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Sustainability Contribution: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Aids in creating cleaner, healthier, and more sustainable urban environments.</a:t>
            </a:r>
          </a:p>
        </p:txBody>
      </p:sp>
    </p:spTree>
    <p:extLst>
      <p:ext uri="{BB962C8B-B14F-4D97-AF65-F5344CB8AC3E}">
        <p14:creationId xmlns:p14="http://schemas.microsoft.com/office/powerpoint/2010/main" val="2043040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B71B-1F35-3C4F-AAB6-392AD5F29B9E}"/>
              </a:ext>
            </a:extLst>
          </p:cNvPr>
          <p:cNvSpPr>
            <a:spLocks noGrp="1"/>
          </p:cNvSpPr>
          <p:nvPr>
            <p:ph type="title"/>
          </p:nvPr>
        </p:nvSpPr>
        <p:spPr/>
        <p:txBody>
          <a:bodyPr/>
          <a:lstStyle/>
          <a:p>
            <a:pPr algn="ctr"/>
            <a:r>
              <a:rPr lang="en-IN" b="1" dirty="0">
                <a:solidFill>
                  <a:schemeClr val="accent6">
                    <a:lumMod val="75000"/>
                  </a:schemeClr>
                </a:solidFill>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23C42D76-8481-D996-2661-A2DD367970C7}"/>
              </a:ext>
            </a:extLst>
          </p:cNvPr>
          <p:cNvSpPr>
            <a:spLocks noGrp="1" noChangeArrowheads="1"/>
          </p:cNvSpPr>
          <p:nvPr>
            <p:ph idx="1"/>
          </p:nvPr>
        </p:nvSpPr>
        <p:spPr bwMode="auto">
          <a:xfrm>
            <a:off x="838200" y="1600496"/>
            <a:ext cx="10515600"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Zhao, X., et al., 2020. Development of IoT Technologies for Air Pollution Prevention and Improvement.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Aerosol and Air Quality Research</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20(5), pp. 255–270.</a:t>
            </a:r>
          </a:p>
          <a:p>
            <a:pPr algn="just" eaLnBrk="0" fontAlgn="base" hangingPunct="0">
              <a:lnSpc>
                <a:spcPct val="150000"/>
              </a:lnSpc>
              <a:spcBef>
                <a:spcPct val="0"/>
              </a:spcBef>
              <a:spcAft>
                <a:spcPct val="0"/>
              </a:spcAft>
            </a:pPr>
            <a:r>
              <a:rPr kumimoji="0" lang="en-US" altLang="en-US" sz="2000" b="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Arkhan</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 &amp; Elsi, 2024. Air Quality Monitoring System Based on Internet of Things.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IoT and Smart Systems</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12(3), pp. 45–58.</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Udit Narayan Das, 2024. Air Quality Monitoring Systems: Technologies, Trends, and Future Directions.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 Journal of Civil Engineering Research</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15(6), pp. 100–112.</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Advancing Air Quality Monitoring: A Low-Cost Sensor Network in Motion – Part I, 2024.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Science of the Total Environment</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832, 155–167.</a:t>
            </a:r>
          </a:p>
          <a:p>
            <a:pPr algn="just" eaLnBrk="0" fontAlgn="base" hangingPunct="0">
              <a:lnSpc>
                <a:spcPct val="150000"/>
              </a:lnSpc>
              <a:spcBef>
                <a:spcPct val="0"/>
              </a:spcBef>
              <a:spcAft>
                <a:spcPct val="0"/>
              </a:spcAf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Springer Review, 2025. Advancements in Air Quality Monitoring: IoT and AI Integration.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Intelligence Review</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58(4), pp. 1125–1145</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06922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EC8668-FDC5-F763-9F0B-4A5073481A23}"/>
              </a:ext>
            </a:extLst>
          </p:cNvPr>
          <p:cNvSpPr txBox="1"/>
          <p:nvPr/>
        </p:nvSpPr>
        <p:spPr>
          <a:xfrm>
            <a:off x="2693505" y="1905506"/>
            <a:ext cx="7204213" cy="3046988"/>
          </a:xfrm>
          <a:prstGeom prst="rect">
            <a:avLst/>
          </a:prstGeom>
          <a:noFill/>
        </p:spPr>
        <p:txBody>
          <a:bodyPr wrap="square" rtlCol="0">
            <a:spAutoFit/>
          </a:bodyPr>
          <a:lstStyle/>
          <a:p>
            <a:r>
              <a:rPr lang="en-IN" sz="9600" b="1" dirty="0">
                <a:solidFill>
                  <a:schemeClr val="accent6">
                    <a:lumMod val="75000"/>
                  </a:schemeClr>
                </a:solidFill>
                <a:latin typeface="Algerian" panose="04020705040A02060702" pitchFamily="82" charset="0"/>
              </a:rPr>
              <a:t>THANK</a:t>
            </a:r>
          </a:p>
          <a:p>
            <a:r>
              <a:rPr lang="en-IN" sz="9600" b="1" dirty="0">
                <a:solidFill>
                  <a:schemeClr val="accent6">
                    <a:lumMod val="75000"/>
                  </a:schemeClr>
                </a:solidFill>
                <a:latin typeface="Algerian" panose="04020705040A02060702" pitchFamily="82" charset="0"/>
              </a:rPr>
              <a:t>          YOU!</a:t>
            </a:r>
          </a:p>
        </p:txBody>
      </p:sp>
    </p:spTree>
    <p:extLst>
      <p:ext uri="{BB962C8B-B14F-4D97-AF65-F5344CB8AC3E}">
        <p14:creationId xmlns:p14="http://schemas.microsoft.com/office/powerpoint/2010/main" val="3891789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864</TotalTime>
  <Words>1221</Words>
  <Application>Microsoft Office PowerPoint</Application>
  <PresentationFormat>Widescreen</PresentationFormat>
  <Paragraphs>97</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Algerian</vt:lpstr>
      <vt:lpstr>Aptos</vt:lpstr>
      <vt:lpstr>Aptos Display</vt:lpstr>
      <vt:lpstr>Arial</vt:lpstr>
      <vt:lpstr>Times New Roman</vt:lpstr>
      <vt:lpstr>Office Theme</vt:lpstr>
      <vt:lpstr>Eco sense : Smart air quality monitoring dashboard</vt:lpstr>
      <vt:lpstr>Abstract</vt:lpstr>
      <vt:lpstr>Introduction</vt:lpstr>
      <vt:lpstr>Problem Statement</vt:lpstr>
      <vt:lpstr>Objectives</vt:lpstr>
      <vt:lpstr>Methodology</vt:lpstr>
      <vt:lpstr>Architecture</vt:lpstr>
      <vt:lpstr>Module-1: Air Quality Overview &amp; Pollutant Distribution </vt:lpstr>
      <vt:lpstr>Output</vt:lpstr>
      <vt:lpstr>Output</vt:lpstr>
      <vt:lpstr>Module-2:Trends and Relationships</vt:lpstr>
      <vt:lpstr>Output</vt:lpstr>
      <vt:lpstr>Module-3: Geospatial and Smart Insights </vt:lpstr>
      <vt:lpstr>Output</vt:lpstr>
      <vt:lpstr>Future prediction</vt:lpstr>
      <vt:lpstr>Challenges and Limitations</vt:lpstr>
      <vt:lpstr>Future Scope</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Pavithra Reddy</dc:creator>
  <cp:lastModifiedBy>Pavithra Reddy</cp:lastModifiedBy>
  <cp:revision>4</cp:revision>
  <dcterms:created xsi:type="dcterms:W3CDTF">2026-01-08T05:29:57Z</dcterms:created>
  <dcterms:modified xsi:type="dcterms:W3CDTF">2026-02-03T05:44:47Z</dcterms:modified>
</cp:coreProperties>
</file>